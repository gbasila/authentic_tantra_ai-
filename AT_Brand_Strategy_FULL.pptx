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АУТЕНТИЧНАЯ ТАНТРА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Аутентичная Тантра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 для продюсера первого запуска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434840" y="397764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Виктория Захарова  ·  Июль 2026  · 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читать этот документ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5087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508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бренда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0" y="1508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3 — 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(и чем не является)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13 — 17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это адресовано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2240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18 — 22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606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 и голос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23 — 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971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9718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методология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0" y="2971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27 — 31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337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337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продажи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3337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32 — 35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703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703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код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0" y="3703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36 — 37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4069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4069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принимать решения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4069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38 — 39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" y="44348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4434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Послание продюсеру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0" y="44348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слайды 40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Содержание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Ядро бренда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предложение, из которого разворачивается всё остальное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411480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 В ОДНОМ ПРЕДЛОЖЕНИИ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Аутентичная Тантра —
</a:t>
            </a:r>
            <a:endParaRPr lang="en-US" sz="3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FBF8F2"/>
                </a:solidFill>
              </a:rPr>
              <a:t>это возвращение к себе через тело, тишину и практику;
</a:t>
            </a:r>
            <a:endParaRPr lang="en-US" sz="3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FBF8F2"/>
                </a:solidFill>
              </a:rPr>
              <a:t>премиум-путь осознанного воплощения для тех,
</a:t>
            </a:r>
            <a:endParaRPr lang="en-US" sz="3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A68A5B"/>
                </a:solidFill>
              </a:rPr>
              <a:t>кто уже построил всё внешнее — и возвращается к внутреннему.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бренда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МИССИЯ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Зачем этот бренд существует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Возвращать взрослых, состоявшихся людей к самим себе — через практики Каула-тантры, работу с телом и тишиной, — чтобы они могли жить полной жизнью, не теряя связи с собой.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383280"/>
            <a:ext cx="7680960" cy="1097280"/>
          </a:xfrm>
          <a:prstGeom prst="roundRect">
            <a:avLst>
              <a:gd name="adj" fmla="val 6667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35204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</a:rPr>
              <a:t>ТРАНСФОРМАЦИЯ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200" i="1" dirty="0">
                <a:solidFill>
                  <a:srgbClr val="2B2A28"/>
                </a:solidFill>
              </a:rPr>
              <a:t>Из режима «жить на автопилоте, добиваясь» — в режим «жить, оставаясь дома в себе». Это не «стать другим человеком». Это вспомнить, кем ты уже давно являешься.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бренда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ВИДЕНИЕ · 10 ЛЕТ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Каким мы видим мир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создаём культурную категорию — «Осознанное Воплощение».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09728" cy="109728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Тантра перестанет быть «эзотерикой» — станет уважаемой практикой зрелой жизни, как йога или медитация 15 лет назад.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109728" cy="109728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Русскоязычные взрослые получат доступ к глубине без сект, гуру и мистики.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109728" cy="109728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Тысячи людей будут жить с «внутренним домом» — там, где не нужно никуда убегать.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109728" cy="109728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Появится новая категория проводников — трезвых, зрелых, укоренённых в теле и в мире.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бренда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принципов, которыми нельзя жертвовать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Возвращение важнее достижения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43000" y="17922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«стать лучше» — а вспомнить, кто ты уже. Никаких обещаний трансформации.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17720" y="146304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0" y="153619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— первый учитель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0" y="17922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Никакая философия не заменяет 10 минут осознанного дыхания. Всё через тело.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2313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Тишина — форма присутствия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25694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продукта — это паузы. Тишина насыщеннее слов и практик.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224028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03520" y="231343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Проводничество, не гуруизм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0" y="256946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Виктория идёт впереди на два шага. Никакой иерархии, никакой недоступности.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30906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Приглашение, не давление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33467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таймеров, скидок «только сегодня», манипуляций дефицитом.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17720" y="301752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03520" y="30906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важнее скорости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34670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обещаем «за 21 день». Мы даём ежедневную практику, которая меняет за годы.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397764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143000" y="38679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Слово равно делу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41239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Всё, что мы говорим клиенту, Виктория делает у себя каждый день с 5 утра.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бренда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УБЕЖДЕНИЯ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 что мы верим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51560" y="16916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Знание уже есть — не в голове, а в тканях тела.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21945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 везде. Не нужно никуда приходить, чтобы быть дома.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69748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Любовь — самый глубокий учитель и самая мощная исцеляющая сила.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32004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Тишина насыщеннее слов; пауза важнее содержания.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70332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 — зеркало, а не проект «улучшения отношений».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20624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— образ жизни: любимая встреча с собой каждый день, а не эффект от одного марафона.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бренда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МИФЫ, КОТОРЫЕ МЫ РАЗРУШАЕМ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считаем ошибкой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77640" cy="365760"/>
          </a:xfrm>
          <a:prstGeom prst="roundRect">
            <a:avLst>
              <a:gd name="adj" fmla="val 200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26280" y="1554480"/>
            <a:ext cx="3977640" cy="365760"/>
          </a:xfrm>
          <a:prstGeom prst="roundRect">
            <a:avLst>
              <a:gd name="adj" fmla="val 200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МИФ РЫНКА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91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 ПОЗИЦИЯ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«Просветление за 30 дней»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09160" y="2011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Пробуждение — не марафон. Это стиль жизни в удовольствии и расслаблении, где раскрывается твой максимальный потенциал.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«Тантра = сексуальные практики»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24688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Тантра — способ дышать с жизнью в одном ритме. Секс — одна из многих её граней.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926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«Раскрой свою богиню/сексуальность»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2926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Ничего раскрывать не нужно. Всё уже есть — нужно вспомнить.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«Учитель знает лучше»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33832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 — проводник, а не авторитет. Клиент знает о себе больше, чем любой гуру.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8404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«Практика = чакры + мандалы + мистика»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09160" y="38404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— это тело, дыхание, тишина. Всё остальное — украшение.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297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«Купи сегодня, скидка только 24 часа»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4297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требует давления для продажи, разрушает то, что должно исцелять.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бренда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ПОДПИСНАЯ ФРАЗА БРЕНДА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«Тут нечему учиться 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здесь есть лишь то,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вспомнить.»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фраза — тест на любой копирайт. Если новый текст противоречит ей — он не наш.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 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Authentic Tantra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чем принципиально не является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411480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ПРОСТОЕ ОПРЕДЕЛЕНИЕ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объяснить бренд за 30 секунд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Аутентичная Тантра — это премиум-путь работы с телом, дыханием, вниманием и близостью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взрослых, которые уже достигли внешнего успеха и теперь хотят вернуться к себе внутри.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— Каула-тантрическая линия (одна из древнейших живых школ).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— современная, русскоязычная, без эзотерики, гуру и мистификации.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как совокупность ежедневных микро-практик + групповых программ + ретритов.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41605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22452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Категория, которую мы создаём:  «Осознанное Воплощение» (Conscious Embodiment)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Authentic Tantra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— не это. Мы — вот это.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645920" cy="365760"/>
          </a:xfrm>
          <a:prstGeom prst="roundRect">
            <a:avLst>
              <a:gd name="adj" fmla="val 20000"/>
            </a:avLst>
          </a:prstGeom>
          <a:solidFill>
            <a:srgbClr val="2B2A28"/>
          </a:solidFill>
          <a:ln w="6350">
            <a:solidFill>
              <a:srgbClr val="2B2A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1371600"/>
            <a:ext cx="3383280" cy="365760"/>
          </a:xfrm>
          <a:prstGeom prst="roundRect">
            <a:avLst>
              <a:gd name="adj" fmla="val 200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0" y="137160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945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— НЕ ЭТО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2356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— ВОТ ЭТО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828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Неотантра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Сексуальная энергия как товар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2356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как учитель, тишина как язык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Сексуальные практики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Оргазмические марафоны и техника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23560" y="22860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Практики присутствия в паре и в себе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Эзотерика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Чакры, мандалы, кристаллы, мистика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0" y="2743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Каула-практика в мирской жизни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Психология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травм в разговорах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Возвращение через тело и дыхание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657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Саморазвитие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3657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«Стань лучшей версией себя»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Вспомни, кто ты уже давно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1148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коучинг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Продуктивность, ЗОЖ, оптимизация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4114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Замедление, глубина, укоренение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Authentic Tantra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ПОЗИЦИОНИРОВАНИЯ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мы стоим на рынке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65836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0228" y="1463040"/>
            <a:ext cx="9144" cy="3200400"/>
          </a:xfrm>
          <a:prstGeom prst="rect">
            <a:avLst/>
          </a:prstGeom>
          <a:solidFill>
            <a:srgbClr val="E5DDD0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058668"/>
            <a:ext cx="6583680" cy="9144"/>
          </a:xfrm>
          <a:prstGeom prst="rect">
            <a:avLst/>
          </a:prstGeom>
          <a:solidFill>
            <a:srgbClr val="E5DDD0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704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ГЛУБИНА  ·  Глубокая внутренняя работа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47365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ЭЗОТЕРИЧНОСТЬ  ←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4736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ПОВЕРХНОСТНОСТЬ  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47365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ЗАЗЕМЛЁННОСТЬ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2276856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2487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Неотантра-школы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15768" y="1956816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0784" y="2167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Эзотерические ретриты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28216" y="3685032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89534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«Раскрой богиню»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44952" y="3941064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9968" y="41513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Спиритуал-инфлюенс.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78424" y="3781044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9913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/ коучинг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336792" y="3364992"/>
            <a:ext cx="164592" cy="164592"/>
          </a:xfrm>
          <a:prstGeom prst="ellipse">
            <a:avLst/>
          </a:prstGeom>
          <a:solidFill>
            <a:srgbClr val="6B6058"/>
          </a:solidFill>
          <a:ln w="12700">
            <a:solidFill>
              <a:srgbClr val="6B60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35753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Психология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43600" y="1956816"/>
            <a:ext cx="292608" cy="292608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9864" y="1783080"/>
            <a:ext cx="640080" cy="64008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92624" y="24871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TANTRA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80960" y="1463040"/>
            <a:ext cx="1280160" cy="3200400"/>
          </a:xfrm>
          <a:prstGeom prst="roundRect">
            <a:avLst>
              <a:gd name="adj" fmla="val 5714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МЕСТО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19202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Правый верхний угол — заземлённо + глубоко.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72400" y="32918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русскоязычный не занял эту точку.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Authentic Tantra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ДНК УЧЕНИЯ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сущностных нити, которые держат всё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Тело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учитель, первая площадка, первый ответ. Всё возвращается сюда для проверки.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73736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204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Тишина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20440" y="3429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отсутствие, а плотное присутствие. 20% всего продукта — это пауза.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97480" cy="27432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Возврат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0" y="3429000"/>
            <a:ext cx="2331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Никуда не идти. Всё уже здесь. Работа — снятие слоёв забвения, не приобретение.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нити переплетены. Убери любую — рассыпется всё.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Authentic Tantra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делает бренд премиальным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лет бизнес-опыта у основателя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Кредиб-мост для скептичной аудитории. Виктория говорит на языке накопления и результата.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69164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Каула-линия (не выдумка)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5780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«дизайнерская тантра». Реальная традиция с 10-летним ежедневным погружением.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83464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Application-based доступ к тирам 3+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154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Дорогие продукты через собеседование. Vetting — часть value, не барьер.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651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83464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834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Виктория ведёт лично, без ассистентов на переднем плане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3154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имеет доступ к самому проводнику, а не к его копии.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97764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продукта — тишина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продаём паузы. Это невозможно в маркетинге wellness-курсов.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79476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97764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57800" y="3931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от рыночных приёмов давления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таймеров, скидок, бонус-стеков. Бренд стоит на своей цене.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Authentic Tantra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 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это адресовано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аватара, к которым обращена вся коммуникация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411480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АВАТАРА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Каждый контент — для одного из них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Анна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Женщины, ищущие целостность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32–44, успешная, over-functioning, disembodied. Уставшая быть сильной.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2331720" cy="320040"/>
          </a:xfrm>
          <a:prstGeom prst="roundRect">
            <a:avLst>
              <a:gd name="adj" fmla="val 22857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аудитории  ≈ 60%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73736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Пары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04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Пары, ищущие глубину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35–50, 5–20 лет вместе, любят, но живут как соседи. Хотят вернуть контакт.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20440" y="4160520"/>
            <a:ext cx="2331720" cy="320040"/>
          </a:xfrm>
          <a:prstGeom prst="roundRect">
            <a:avLst>
              <a:gd name="adj" fmla="val 22857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аудитории  ≈ 15%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737360"/>
            <a:ext cx="2697480" cy="2880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65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3317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Алексей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Мужчины-искатели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4290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30–48, тех/фин/креатив, интеллектуально любопытные, скептичные к «woo».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0" y="4160520"/>
            <a:ext cx="2331720" cy="320040"/>
          </a:xfrm>
          <a:prstGeom prst="roundRect">
            <a:avLst>
              <a:gd name="adj" fmla="val 22857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1879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аудитории  ≈ 25%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это адресовано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  А1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Анна · Женщины, ищущие целостность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ОНА ГОВОРИТ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устала быть сильной»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 меня всё есть — почему мне так пусто?»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не помню, чего хочу»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ЕЁ БОЛИТ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0600" y="19659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как чужое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Одиночество внутри пары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Хроническая усталость от контроля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ОНА ИЩЕТ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Разрешение размягчиться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Пространство, где можно не быть идеальной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Проводника-женщину, которая прошла это сама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31089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ЦЕПЛЯЕТ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3566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Узнавание без обвинения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«должна»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Красота, тишина, аутентичность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это адресовано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  А2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Пары · Ищущие глубину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лет вместе, часто с детьми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уважение и любовь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нет контакта, огня, свежести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ГОВОРЯТ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0600" y="19659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«Живём как соседи»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«Не знаю, что ей/ему сейчас нужно»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«Секс редко и без души»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ИЩУТ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«спасти отношения», а обновить их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Практики, которые можно делать дома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для двоих, где взрослые чувствуют себя взрослыми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31089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ЦЕПЛЯЕТ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3566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Рамка «зрелая пара», не «пылкие влюблённые»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Мужской и женский голос одновременно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Возможность пройти путь вместе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это адресовано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  А3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Алексей · Ищущие живости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СИТУАЦИЯ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30–48, тех/фин/креатив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в переходе (развод, кризис, рестарт)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Интеллектуально любопытные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5087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ГОВОРЯТ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00600" y="19659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«Живу на автопилоте»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«Хочу реальности, а не теории»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«Устал от продуктивности как смысла»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ИЩУТ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Реальную практику, а не концепцию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скепсису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Мостик от науки/бизнеса к телу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310896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ЦЕПЛЯЕТ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356616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Бизнес-фон Виктории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Отсутствие мистификации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Прямой, трезвый язык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Кому это адресовано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ГЛУБИННЫЙ ЗАПРОС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все три аватара ищут на самом деле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Разрешение вернуться домой в себя 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 проводника, который сам этот путь прошёл.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«раскрытие женственности». Не «оргазм за 30 дней». Не «сакральный дух».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тихое, точное узнавание: «Наконец кто-то говорит об этом так, как я это чувствую».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 IV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Характер и голос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бренд думает, чувствует и говорит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411480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БРЕНДА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Мудрец 60% + Возлюбленная 40%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Мудрец  ·  60%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Ищет истину. Трезвый, укоренённый, спокойный. Не спешит. Не убеждает. Приглашает подумать.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ВЕДЁТ СЕБЯ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Слушает больше, чем говорит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82219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822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Задаёт вопросы, не даёт ответы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4078224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0782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Оставляет паузы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334256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3342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Уважает автономию другого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160020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011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Возлюбленная  ·  40%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92040" y="2514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Тёплая, чувственная, живая. Знает язык тела, красоты, близости. Не боится нежности.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ПРОЯВЛЯЕТСЯ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3566160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7492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Тактильные образы, живая эстетика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3822192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822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Эстетика важнее эффективности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4078224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74920" y="407822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Тёплый чувственный тон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4334256"/>
            <a:ext cx="137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433425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Знает вкус жизни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 и голос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  ·  ДА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мы говорим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274320" cy="27432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51560" y="16184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Шёпотом, не криком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578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«вы можете попробовать» вместо «сделайте прямо сейчас»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76272"/>
            <a:ext cx="274320" cy="27432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1214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Приглашение, не инструкция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5780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«если вы почувствуете» вместо «вам нужно»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679192"/>
            <a:ext cx="274320" cy="27432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624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 тела, не концепции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«дыхание в живот» вместо «повышение вибрации»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182112"/>
            <a:ext cx="274320" cy="27432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1272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«Мы вспоминаем», не «я научу»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«вернуться к тому, что уже есть» вместо «получить новый навык»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685032"/>
            <a:ext cx="274320" cy="27432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85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3630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предложения. Длинные вдохи между ними.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Пауза — тоже часть текста.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187952"/>
            <a:ext cx="274320" cy="27432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87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133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Русский первым, всегда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4160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англицизмы только если без них рушится смысл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 и голос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  ·  НЕТ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мы не говорим никогда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618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«Просветление за 30 дней»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6733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73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618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«Раскрой свою богиню / женственность / сексуальность»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305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«Секретная древняя техника»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305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130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20756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«Только сегодня! Скидка!»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5877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532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«Успей до 24:00»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5877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5328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«Ты этого достойна» (лестью бренд не работает)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0449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2990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Восклицательные знаки в бренд-копирайте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0449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044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2990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Эмодзи на основных поверхностях (мессенджеры-исключение)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5021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4472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Английские слова через запятую с русскими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5021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34472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Прямые инструкции в императиве («сделай», «купи», «прими»)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9593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3904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«Ученики», «мастер», «гуру» — иерархичный словарь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959352"/>
            <a:ext cx="256032" cy="256032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9593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39044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Обещания результата в цифрах или сроках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 и голос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 V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Продукт и методология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построен путь клиента внутри бренда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411480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ОБРАЗОВАТЕЛЬНАЯ ФИЛОСОФИЯ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мы обучаем и почему именно так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69164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«даём знания».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создаём условия, в которых у человека появляется собственный уникальный опыт — тот, что открывает доступ к его древней памяти.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рынок: 90% техник + 10% контекста. У нас — 40% философского контекста + 40% практики + 20% тишины и паузы.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Философский контекст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3246120"/>
            <a:ext cx="5943600" cy="228600"/>
          </a:xfrm>
          <a:prstGeom prst="roundRect">
            <a:avLst>
              <a:gd name="adj" fmla="val 20000"/>
            </a:avLst>
          </a:prstGeom>
          <a:solidFill>
            <a:srgbClr val="F3EEE4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3246120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66760" y="3200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(тело, дыхание)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3749040"/>
            <a:ext cx="5943600" cy="228600"/>
          </a:xfrm>
          <a:prstGeom prst="roundRect">
            <a:avLst>
              <a:gd name="adj" fmla="val 20000"/>
            </a:avLst>
          </a:prstGeom>
          <a:solidFill>
            <a:srgbClr val="F3EEE4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3749040"/>
            <a:ext cx="2377440" cy="228600"/>
          </a:xfrm>
          <a:prstGeom prst="roundRect">
            <a:avLst>
              <a:gd name="adj" fmla="val 20000"/>
            </a:avLst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3703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Тишина и пауза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4251960"/>
            <a:ext cx="5943600" cy="228600"/>
          </a:xfrm>
          <a:prstGeom prst="roundRect">
            <a:avLst>
              <a:gd name="adj" fmla="val 20000"/>
            </a:avLst>
          </a:prstGeom>
          <a:solidFill>
            <a:srgbClr val="F3EEE4"/>
          </a:solidFill>
          <a:ln w="12700">
            <a:solidFill>
              <a:srgbClr val="E5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4251960"/>
            <a:ext cx="1188720" cy="228600"/>
          </a:xfrm>
          <a:prstGeom prst="roundRect">
            <a:avLst>
              <a:gd name="adj" fmla="val 20000"/>
            </a:avLst>
          </a:prstGeom>
          <a:solidFill>
            <a:srgbClr val="2B2A28"/>
          </a:solidFill>
          <a:ln w="12700">
            <a:solidFill>
              <a:srgbClr val="2B2A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4206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методология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принципов, встроенных в каждый продукт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645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627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 — первый учитель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программа начинается и заканчивается возвращением в тело.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22219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Тишина — не отсутствие, а форма присутствия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Планируем паузы, а не заполняем каждую минуту.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28163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 — зеркало, а не проект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партнёром для узнавания себя и своей эволюции, не для «улучшения отношений».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29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4107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Практика ежедневна, трансформация — волнами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обещаем «за 21 день». Даём опору на годы.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40050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 — проводник, не гуру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Виктория идёт на два шага впереди и оборачивается, чтобы подать руку.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методология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ЭКОСИСТЕМА ПРОДУКТОВ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Семь тиров: от узнавания до передачи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429768"/>
          </a:xfrm>
          <a:prstGeom prst="roundRect">
            <a:avLst>
              <a:gd name="adj" fmla="val 17021"/>
            </a:avLst>
          </a:prstGeom>
          <a:solidFill>
            <a:srgbClr val="F3EEE4"/>
          </a:solidFill>
          <a:ln w="6350">
            <a:solidFill>
              <a:srgbClr val="F3EE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контент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41732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бесплатно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1417320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IG, TG, Reels, Lead Magnet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92808"/>
            <a:ext cx="8229600" cy="429768"/>
          </a:xfrm>
          <a:prstGeom prst="roundRect">
            <a:avLst>
              <a:gd name="adj" fmla="val 17021"/>
            </a:avLst>
          </a:prstGeom>
          <a:solidFill>
            <a:srgbClr val="EAE0CD"/>
          </a:solidFill>
          <a:ln w="6350">
            <a:solidFill>
              <a:srgbClr val="EAE0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9280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89280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Мини-курс «Дыхание»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0" y="1892808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€60 — €90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1892808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Самостоятельный, первое касание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8229600" cy="429768"/>
          </a:xfrm>
          <a:prstGeom prst="roundRect">
            <a:avLst>
              <a:gd name="adj" fmla="val 17021"/>
            </a:avLst>
          </a:prstGeom>
          <a:solidFill>
            <a:srgbClr val="D4C398"/>
          </a:solidFill>
          <a:ln w="6350">
            <a:solidFill>
              <a:srgbClr val="D4C39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6829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2368296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Закрытый канал по подписке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2368296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€15 — €25/мес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368296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Ежемесячные практики + голосовые Виктории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43784"/>
            <a:ext cx="8229600" cy="429768"/>
          </a:xfrm>
          <a:prstGeom prst="roundRect">
            <a:avLst>
              <a:gd name="adj" fmla="val 17021"/>
            </a:avLst>
          </a:prstGeom>
          <a:solidFill>
            <a:srgbClr val="A68A5B"/>
          </a:solidFill>
          <a:ln w="6350">
            <a:solidFill>
              <a:srgbClr val="A68A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43784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2843784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«Аутентичная Глубина»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97680" y="284378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€500 — €900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2843784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Флагман. 8 недель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319272"/>
            <a:ext cx="8229600" cy="429768"/>
          </a:xfrm>
          <a:prstGeom prst="roundRect">
            <a:avLst>
              <a:gd name="adj" fmla="val 17021"/>
            </a:avLst>
          </a:prstGeom>
          <a:solidFill>
            <a:srgbClr val="8A6D3F"/>
          </a:solidFill>
          <a:ln w="6350">
            <a:solidFill>
              <a:srgbClr val="8A6D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319272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43000" y="3319272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«Ткачество»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97680" y="3319272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€900 — €1 200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3319272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Углубление для выпускников. 12 недель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429768"/>
          </a:xfrm>
          <a:prstGeom prst="roundRect">
            <a:avLst>
              <a:gd name="adj" fmla="val 17021"/>
            </a:avLst>
          </a:prstGeom>
          <a:solidFill>
            <a:srgbClr val="7A2E2E"/>
          </a:solidFill>
          <a:ln w="6350">
            <a:solidFill>
              <a:srgbClr val="7A2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9476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3794760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Ретрит «Центр»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97680" y="379476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€2 500 — €3 500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794760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дня. Максимум 20 человек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70248"/>
            <a:ext cx="8229600" cy="429768"/>
          </a:xfrm>
          <a:prstGeom prst="roundRect">
            <a:avLst>
              <a:gd name="adj" fmla="val 17021"/>
            </a:avLst>
          </a:prstGeom>
          <a:solidFill>
            <a:srgbClr val="2B2A28"/>
          </a:solidFill>
          <a:ln w="6350">
            <a:solidFill>
              <a:srgbClr val="2B2A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27024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43000" y="4270248"/>
            <a:ext cx="3108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«Проводник»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297680" y="4270248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€8 000 — €15 000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4270248"/>
            <a:ext cx="2423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Годовая передача. 6–8 в год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методология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ПУТИ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человек движется по тирам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5544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11680" y="15544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15544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Day 5 lead-magnet — мягкое приглашение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116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T0/T1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11680" y="20116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20116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 на закрытый канал — ежемесячный уровень доверия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688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544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011680" y="24688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4688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для дошедших до Дня 7 мини-курса или активных в канале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29260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9260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5544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011680" y="29260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29260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0896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выпускники «Аутентичной Глубины»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3832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383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T3/T4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5544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2011680" y="33832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33832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08960" y="3383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заявке (application) — не одноклик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38404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404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T4+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5448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2011680" y="3840480"/>
            <a:ext cx="960120" cy="365760"/>
          </a:xfrm>
          <a:prstGeom prst="roundRect">
            <a:avLst>
              <a:gd name="adj" fmla="val 12500"/>
            </a:avLst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11680" y="384048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0896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через личное собеседование с Викторией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" y="4434840"/>
            <a:ext cx="7863840" cy="365760"/>
          </a:xfrm>
          <a:prstGeom prst="roundRect">
            <a:avLst>
              <a:gd name="adj" fmla="val 20000"/>
            </a:avLst>
          </a:prstGeom>
          <a:solidFill>
            <a:srgbClr val="F3EEE4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4348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никогда — «предложение купить». Всегда — приглашение, когда человек созрел.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и методология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 VI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 и продажи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продавать, оставаясь в философии бренда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411480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ПРИНЦИПЫ ЗАПУСКА  ·  ОБЯЗАТЕЛЬНО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быть в каждом запуске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Прогрев через опыт, не через хайп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2–4 недели до открытия дверей — глубокая контент-серия, дающая ценность вне продукта.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150876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69164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цены и условий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видна сразу. Возврат и правила — на лендинге, не в мелком шрифте.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4320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Application-based для дорогих тиров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Ретрит, Ткачество, Проводник — только через заявку. Вetting — часть value.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256032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74320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743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Свобода отказа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017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есть возможность не купить. Ни одно письмо не давит.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79476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Виктории лично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Голосовые и видео — не «продающий консультант», а сам проводник.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3611880"/>
            <a:ext cx="39776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79476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749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тишине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 письмами — паузы. Не 7 писем за 3 дня.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продажи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КАТЕГОРИЧЕСКИ НЕЛЬЗЯ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Стоп-лист маркетинга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1600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Countdown-таймеры на лендинге и в письмах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459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4920" y="1600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Фейковый дефицит («последние 3 места!»)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48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Bonus-стеки («+ 5 подарков на €500 бесплатно»)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4884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1488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21031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Психологическое давление в письмах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65176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651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«Только сегодня» / «последний шанс»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651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74920" y="2606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Разговор о «тантрической сексуальности» в холодной коммуникации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15468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54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108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Обещания результата в цифрах или сроках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15468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1546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74920" y="31089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«Сравнение с конкурентами» в лоб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65760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657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611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Instagram-стилистика «спиритуал-инфлюенсер» (белое платье в поле, лотосы, чакры)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65760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6576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74920" y="36118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«Успех истории» с фото до/после в нашей категории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16052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160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4114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 через страх («у тебя разрушены отношения — вот решение»)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4160520"/>
            <a:ext cx="228600" cy="228600"/>
          </a:xfrm>
          <a:prstGeom prst="ellipse">
            <a:avLst/>
          </a:prstGeom>
          <a:solidFill>
            <a:srgbClr val="7A2E2E"/>
          </a:solidFill>
          <a:ln w="12700">
            <a:solidFill>
              <a:srgbClr val="7A2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41605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74920" y="41148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продление подписок без явного согласия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продажи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ПРОДАЖ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продавать, не разрушая бренд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5819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Продавать через показ, а не убеждение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8470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 человеку почувствовать голос, метод, атмосферу. Не рассказывай — покажи.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130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Использовать историю как двигатель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395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путь Виктории — самый убедительный аргумент. Данные — вторичны.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6791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Спрашивать больше, чем говорить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9443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лендингах — вопросы читателю. В сообщениях — интерес к нему, а не питчинг.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60120" y="3227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Оставлять человека сильным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4930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Даже отказ должен ощущаться как достойное решение, а не поражение.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776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Продавать длительность отношений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0416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«купи курс», а «войди в круг». Мы строим 5-летние отношения, а не разовые продажи.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325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Работать с воронкой качества, не масштаба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45902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60 глубоких участников, чем 600 поверхностных.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и продажи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 VII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Визуальный код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выглядит бренд — и как не должен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411480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ЯЗЫК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делаем и чего избегаем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Кремово-угольная палитра + латунь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219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Cormorant Garamond (заголовки), Inter (тело)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7802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4780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Природные фактуры: дерево, лён, вода, камень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73405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7340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Портретный документализм (не постановка)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990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990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Тишина в кадре — воздух, паузы, пустота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246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Композиция «одинокий свет в тёмной комнате»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5021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5021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Тёплый естественный свет: заря, свеча, окно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75818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7581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Референсы: Aesop, Heckfield, A24, Sofia Coppola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01421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0142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Оттенки: Cig Harvey, Sarah Moon, Sugimoto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2702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2702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 держит мысль — не иллюстрирует её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4630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19659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19659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Лотосы, мандалы, сакральная геометрия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22219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22219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Чакры-диаграммы, кундалини-змеи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47802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247802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Кристаллы, разложенные на теле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73405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74920" y="27340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«Спиритуал-инфлюенсер»: белое платье в поле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2990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74920" y="2990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Стоковая фотография (никогда)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2461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074920" y="3246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Санскритские надписи как декор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35021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74920" y="35021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Насыщенные фильтры «розовое золото»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92040" y="375818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74920" y="37581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Постановка «женщина-богиня»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01421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74920" y="40142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Overlay-графика на фото (никаких линий)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92040" y="42702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074920" y="42702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Countdown-таймеры и pop-up на сайте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код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СИГНАТУРНАЯ МЕТАФОРА БРЕНДА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«Тихая комната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одним окном на восток —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долгой ночи.»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снимок, кадр или лендинг не вызывает это ощущение — это не наш визуал.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 VIII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принимать решения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Чек-лист, который команда применяет каждый день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411480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ЧЕК-ЛИСТ ПРИНЯТИЯ РЕШЕНИЙ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Перед любой идеей задай эти 7 вопросов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4813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Соответствует ли это философии бренда — возвращению, а не достижению?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9385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Помогает ли это человеку стать ближе к себе (не к нам)?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3957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здесь глубина или только эффектность?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8529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превращаем ли мы тантру в товар?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3101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используем ли страх, давление или манипуляцию?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7673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Прозвучало бы это тепло, если бы это была Виктория лично, в тихой комнате?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365760" cy="3657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42245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Оставляет ли это пространство для тишины?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7A2E2E"/>
          </a:solidFill>
          <a:ln w="6350">
            <a:solidFill>
              <a:srgbClr val="7A2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B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хотя бы на один вопрос ответ «нет» — решение требует пересмотра.</a:t>
            </a:r>
            <a:endParaRPr lang="en-US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 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Послание продюсеру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246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5D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важно услышать до первого совместного дня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480560" y="411480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ЛИЧНОЕ ОБРАЩЕНИЕ ОТ ВИКТОРИИ  ·  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этот проект важен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приглашаю тебя в дело, которое не является ещё одним онлайн-курсом.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создаём культурную категорию — «Осознанное Воплощение».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Русскоязычный взрослый рынок голодает по глубине без эзотерики.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пока не занял это место точно.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нельзя потерять при масштабировании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35661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 — мы шепчем, никогда не кричим.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822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82219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Тишину — она составляет 20% продукта, а не заглушка между.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07822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07822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Application-based доступ к дорогим тирам. Никогда не одноклик.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33425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33425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Свободу отказа — ни одно письмо не давит.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45902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59028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Моё время на собственную практику с 5 утра — это защищённый час.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Послание продюсеру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00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600" kern="0" dirty="0">
                <a:solidFill>
                  <a:srgbClr val="A68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ЛИЧНОЕ ОБРАЩЕНИЕ ОТ ВИКТОРИИ  ·  II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B2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Каким должен быть человек рядом с брендом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719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Слушать больше, чем говорить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Первое качество проводника. Без него всё остальное невозможно.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160020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78308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783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1719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Быть спокойным в своей коже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057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Никакой суеты, никакого внутреннего надрыва. Из тревоги нельзя держать пространство.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8892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Различать глубокое и мистическое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трезвая. Мистика — украшение. Мы работаем только с первым.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260604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78892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12080" y="2724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Уважать тишину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заполнять паузу. Не бояться неотвеченного письма. Не суетиться.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79476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730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Сказать «нет» модному ради верного бренду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отказываемся от того, что работает у других, если это ломает нашу тональность.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3611880"/>
            <a:ext cx="3977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DD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794760"/>
            <a:ext cx="320040" cy="32004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794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212080" y="3730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Быть в собственной практике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обязательно тантрической. Но у каждого — своя опора, к которой они возвращаются.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7091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7A2E2E"/>
          </a:solidFill>
          <a:ln w="6350">
            <a:solidFill>
              <a:srgbClr val="7A2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Ты не продвигаешь курс. Ты держишь пространство. С этого начинается всё.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2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«Тут нечему учиться 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FB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здесь есть лишь то,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A6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нужно вспомнить.»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434840" y="4160520"/>
            <a:ext cx="137160" cy="137160"/>
          </a:xfrm>
          <a:prstGeom prst="ellipse">
            <a:avLst/>
          </a:prstGeom>
          <a:solidFill>
            <a:srgbClr val="A68A5B"/>
          </a:solidFill>
          <a:ln w="12700">
            <a:solidFill>
              <a:srgbClr val="A68A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0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Аутентичная Тантра  ·  Brand Strategy  ·  v1.0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Authentic Tantra · Brand Strategy</dc:title>
  <dc:subject>PptxGenJS Presentation</dc:subject>
  <dc:creator>Виктория Захарова · Аутентичная Тантра</dc:creator>
  <cp:lastModifiedBy>Виктория Захарова · Аутентичная Тантра</cp:lastModifiedBy>
  <cp:revision>1</cp:revision>
  <dcterms:created xsi:type="dcterms:W3CDTF">2026-07-11T04:17:42Z</dcterms:created>
  <dcterms:modified xsi:type="dcterms:W3CDTF">2026-07-11T04:17:42Z</dcterms:modified>
</cp:coreProperties>
</file>